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10" r:id="rId2"/>
    <p:sldId id="416" r:id="rId3"/>
    <p:sldId id="440" r:id="rId4"/>
    <p:sldId id="442" r:id="rId5"/>
    <p:sldId id="441" r:id="rId6"/>
    <p:sldId id="443" r:id="rId7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52" r:id="rId24"/>
    <p:sldId id="453" r:id="rId25"/>
    <p:sldId id="454" r:id="rId26"/>
    <p:sldId id="444" r:id="rId8"/>
    <p:sldId id="437" r:id="rId9"/>
    <p:sldId id="455" r:id="rId27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1BE9C-B327-4F5F-8CE7-0C6A82EA159C}" v="4" dt="2026-04-28T15:37:49.603"/>
    <p1510:client id="{B7F744B3-9D18-4668-A7E0-5458D4AB701C}" v="1" dt="2026-04-28T15:39:55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ma Chakraborty" userId="6498d5ecf9bee84c" providerId="LiveId" clId="{66FC870F-A0F2-4B84-A13C-1C2B13E21C40}"/>
    <pc:docChg chg="custSel addSld delSld modSld delSection modSection">
      <pc:chgData name="Proma Chakraborty" userId="6498d5ecf9bee84c" providerId="LiveId" clId="{66FC870F-A0F2-4B84-A13C-1C2B13E21C40}" dt="2026-04-28T15:40:24.837" v="163" actId="47"/>
      <pc:docMkLst>
        <pc:docMk/>
      </pc:docMkLst>
      <pc:sldChg chg="modSp add del mod">
        <pc:chgData name="Proma Chakraborty" userId="6498d5ecf9bee84c" providerId="LiveId" clId="{66FC870F-A0F2-4B84-A13C-1C2B13E21C40}" dt="2026-04-28T15:32:40.768" v="39" actId="47"/>
        <pc:sldMkLst>
          <pc:docMk/>
          <pc:sldMk cId="0" sldId="256"/>
        </pc:sldMkLst>
        <pc:spChg chg="mod">
          <ac:chgData name="Proma Chakraborty" userId="6498d5ecf9bee84c" providerId="LiveId" clId="{66FC870F-A0F2-4B84-A13C-1C2B13E21C40}" dt="2026-04-28T15:32:29.758" v="38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2:29.758" v="38" actId="2711"/>
          <ac:spMkLst>
            <pc:docMk/>
            <pc:sldMk cId="0" sldId="256"/>
            <ac:spMk id="3" creationId="{00000000-0000-0000-0000-000000000000}"/>
          </ac:spMkLst>
        </pc:spChg>
      </pc:sldChg>
      <pc:sldChg chg="modSp add del mod">
        <pc:chgData name="Proma Chakraborty" userId="6498d5ecf9bee84c" providerId="LiveId" clId="{66FC870F-A0F2-4B84-A13C-1C2B13E21C40}" dt="2026-04-28T15:40:21.589" v="158" actId="47"/>
        <pc:sldMkLst>
          <pc:docMk/>
          <pc:sldMk cId="0" sldId="257"/>
        </pc:sldMkLst>
        <pc:spChg chg="mod">
          <ac:chgData name="Proma Chakraborty" userId="6498d5ecf9bee84c" providerId="LiveId" clId="{66FC870F-A0F2-4B84-A13C-1C2B13E21C40}" dt="2026-04-28T15:32:46.487" v="4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2:46.487" v="40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add del mod">
        <pc:chgData name="Proma Chakraborty" userId="6498d5ecf9bee84c" providerId="LiveId" clId="{66FC870F-A0F2-4B84-A13C-1C2B13E21C40}" dt="2026-04-28T15:40:22.052" v="159" actId="47"/>
        <pc:sldMkLst>
          <pc:docMk/>
          <pc:sldMk cId="0" sldId="258"/>
        </pc:sldMkLst>
        <pc:spChg chg="mod">
          <ac:chgData name="Proma Chakraborty" userId="6498d5ecf9bee84c" providerId="LiveId" clId="{66FC870F-A0F2-4B84-A13C-1C2B13E21C40}" dt="2026-04-28T15:33:39.890" v="53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2:51.589" v="41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">
        <pc:chgData name="Proma Chakraborty" userId="6498d5ecf9bee84c" providerId="LiveId" clId="{66FC870F-A0F2-4B84-A13C-1C2B13E21C40}" dt="2026-04-28T15:40:22.389" v="160" actId="47"/>
        <pc:sldMkLst>
          <pc:docMk/>
          <pc:sldMk cId="0" sldId="259"/>
        </pc:sldMkLst>
        <pc:spChg chg="mod">
          <ac:chgData name="Proma Chakraborty" userId="6498d5ecf9bee84c" providerId="LiveId" clId="{66FC870F-A0F2-4B84-A13C-1C2B13E21C40}" dt="2026-04-28T15:33:08.080" v="42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5:25.964" v="55" actId="2711"/>
          <ac:spMkLst>
            <pc:docMk/>
            <pc:sldMk cId="0" sldId="259"/>
            <ac:spMk id="3" creationId="{00000000-0000-0000-0000-000000000000}"/>
          </ac:spMkLst>
        </pc:spChg>
      </pc:sldChg>
      <pc:sldChg chg="modSp add del mod">
        <pc:chgData name="Proma Chakraborty" userId="6498d5ecf9bee84c" providerId="LiveId" clId="{66FC870F-A0F2-4B84-A13C-1C2B13E21C40}" dt="2026-04-28T15:40:22.676" v="161" actId="47"/>
        <pc:sldMkLst>
          <pc:docMk/>
          <pc:sldMk cId="0" sldId="260"/>
        </pc:sldMkLst>
        <pc:spChg chg="mod">
          <ac:chgData name="Proma Chakraborty" userId="6498d5ecf9bee84c" providerId="LiveId" clId="{66FC870F-A0F2-4B84-A13C-1C2B13E21C40}" dt="2026-04-28T15:35:31.534" v="56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5:31.534" v="56" actId="2711"/>
          <ac:spMkLst>
            <pc:docMk/>
            <pc:sldMk cId="0" sldId="260"/>
            <ac:spMk id="3" creationId="{00000000-0000-0000-0000-000000000000}"/>
          </ac:spMkLst>
        </pc:spChg>
      </pc:sldChg>
      <pc:sldChg chg="add del">
        <pc:chgData name="Proma Chakraborty" userId="6498d5ecf9bee84c" providerId="LiveId" clId="{66FC870F-A0F2-4B84-A13C-1C2B13E21C40}" dt="2026-04-28T15:35:38.864" v="57" actId="47"/>
        <pc:sldMkLst>
          <pc:docMk/>
          <pc:sldMk cId="0" sldId="261"/>
        </pc:sldMkLst>
      </pc:sldChg>
      <pc:sldChg chg="add del">
        <pc:chgData name="Proma Chakraborty" userId="6498d5ecf9bee84c" providerId="LiveId" clId="{66FC870F-A0F2-4B84-A13C-1C2B13E21C40}" dt="2026-04-28T15:35:40.322" v="58" actId="47"/>
        <pc:sldMkLst>
          <pc:docMk/>
          <pc:sldMk cId="0" sldId="262"/>
        </pc:sldMkLst>
      </pc:sldChg>
      <pc:sldChg chg="modSp add del mod">
        <pc:chgData name="Proma Chakraborty" userId="6498d5ecf9bee84c" providerId="LiveId" clId="{66FC870F-A0F2-4B84-A13C-1C2B13E21C40}" dt="2026-04-28T15:40:22.882" v="162" actId="47"/>
        <pc:sldMkLst>
          <pc:docMk/>
          <pc:sldMk cId="0" sldId="263"/>
        </pc:sldMkLst>
        <pc:spChg chg="mod">
          <ac:chgData name="Proma Chakraborty" userId="6498d5ecf9bee84c" providerId="LiveId" clId="{66FC870F-A0F2-4B84-A13C-1C2B13E21C40}" dt="2026-04-28T15:36:03.670" v="64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7:49.603" v="153"/>
          <ac:spMkLst>
            <pc:docMk/>
            <pc:sldMk cId="0" sldId="263"/>
            <ac:spMk id="3" creationId="{00000000-0000-0000-0000-000000000000}"/>
          </ac:spMkLst>
        </pc:spChg>
      </pc:sldChg>
      <pc:sldChg chg="add del">
        <pc:chgData name="Proma Chakraborty" userId="6498d5ecf9bee84c" providerId="LiveId" clId="{66FC870F-A0F2-4B84-A13C-1C2B13E21C40}" dt="2026-04-28T15:36:16.642" v="65" actId="47"/>
        <pc:sldMkLst>
          <pc:docMk/>
          <pc:sldMk cId="0" sldId="264"/>
        </pc:sldMkLst>
      </pc:sldChg>
      <pc:sldChg chg="modSp add del mod">
        <pc:chgData name="Proma Chakraborty" userId="6498d5ecf9bee84c" providerId="LiveId" clId="{66FC870F-A0F2-4B84-A13C-1C2B13E21C40}" dt="2026-04-28T15:40:24.837" v="163" actId="47"/>
        <pc:sldMkLst>
          <pc:docMk/>
          <pc:sldMk cId="0" sldId="265"/>
        </pc:sldMkLst>
        <pc:spChg chg="mod">
          <ac:chgData name="Proma Chakraborty" userId="6498d5ecf9bee84c" providerId="LiveId" clId="{66FC870F-A0F2-4B84-A13C-1C2B13E21C40}" dt="2026-04-28T15:36:24.738" v="67" actId="6549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oma Chakraborty" userId="6498d5ecf9bee84c" providerId="LiveId" clId="{66FC870F-A0F2-4B84-A13C-1C2B13E21C40}" dt="2026-04-28T15:36:30.653" v="69" actId="6549"/>
          <ac:spMkLst>
            <pc:docMk/>
            <pc:sldMk cId="0" sldId="265"/>
            <ac:spMk id="3" creationId="{00000000-0000-0000-0000-000000000000}"/>
          </ac:spMkLst>
        </pc:spChg>
      </pc:sldChg>
      <pc:sldChg chg="del">
        <pc:chgData name="Proma Chakraborty" userId="6498d5ecf9bee84c" providerId="LiveId" clId="{66FC870F-A0F2-4B84-A13C-1C2B13E21C40}" dt="2026-04-28T15:36:33.981" v="70" actId="47"/>
        <pc:sldMkLst>
          <pc:docMk/>
          <pc:sldMk cId="2372126829" sldId="295"/>
        </pc:sldMkLst>
      </pc:sldChg>
      <pc:sldChg chg="del">
        <pc:chgData name="Proma Chakraborty" userId="6498d5ecf9bee84c" providerId="LiveId" clId="{66FC870F-A0F2-4B84-A13C-1C2B13E21C40}" dt="2026-04-28T15:36:36.459" v="71" actId="47"/>
        <pc:sldMkLst>
          <pc:docMk/>
          <pc:sldMk cId="2369645795" sldId="296"/>
        </pc:sldMkLst>
      </pc:sldChg>
      <pc:sldChg chg="del">
        <pc:chgData name="Proma Chakraborty" userId="6498d5ecf9bee84c" providerId="LiveId" clId="{66FC870F-A0F2-4B84-A13C-1C2B13E21C40}" dt="2026-04-28T15:36:37.165" v="72" actId="47"/>
        <pc:sldMkLst>
          <pc:docMk/>
          <pc:sldMk cId="3766427437" sldId="297"/>
        </pc:sldMkLst>
      </pc:sldChg>
      <pc:sldChg chg="del">
        <pc:chgData name="Proma Chakraborty" userId="6498d5ecf9bee84c" providerId="LiveId" clId="{66FC870F-A0F2-4B84-A13C-1C2B13E21C40}" dt="2026-04-28T15:36:37.567" v="73" actId="47"/>
        <pc:sldMkLst>
          <pc:docMk/>
          <pc:sldMk cId="569314896" sldId="298"/>
        </pc:sldMkLst>
      </pc:sldChg>
      <pc:sldChg chg="del">
        <pc:chgData name="Proma Chakraborty" userId="6498d5ecf9bee84c" providerId="LiveId" clId="{66FC870F-A0F2-4B84-A13C-1C2B13E21C40}" dt="2026-04-28T15:31:46.701" v="2" actId="47"/>
        <pc:sldMkLst>
          <pc:docMk/>
          <pc:sldMk cId="2209678598" sldId="299"/>
        </pc:sldMkLst>
      </pc:sldChg>
      <pc:sldChg chg="del">
        <pc:chgData name="Proma Chakraborty" userId="6498d5ecf9bee84c" providerId="LiveId" clId="{66FC870F-A0F2-4B84-A13C-1C2B13E21C40}" dt="2026-04-28T15:36:40.693" v="74" actId="47"/>
        <pc:sldMkLst>
          <pc:docMk/>
          <pc:sldMk cId="1595639622" sldId="300"/>
        </pc:sldMkLst>
      </pc:sldChg>
      <pc:sldChg chg="del">
        <pc:chgData name="Proma Chakraborty" userId="6498d5ecf9bee84c" providerId="LiveId" clId="{66FC870F-A0F2-4B84-A13C-1C2B13E21C40}" dt="2026-04-28T15:36:41.619" v="75" actId="47"/>
        <pc:sldMkLst>
          <pc:docMk/>
          <pc:sldMk cId="578552052" sldId="301"/>
        </pc:sldMkLst>
      </pc:sldChg>
      <pc:sldChg chg="del">
        <pc:chgData name="Proma Chakraborty" userId="6498d5ecf9bee84c" providerId="LiveId" clId="{66FC870F-A0F2-4B84-A13C-1C2B13E21C40}" dt="2026-04-28T15:36:42.506" v="76" actId="47"/>
        <pc:sldMkLst>
          <pc:docMk/>
          <pc:sldMk cId="937032223" sldId="302"/>
        </pc:sldMkLst>
      </pc:sldChg>
      <pc:sldChg chg="del">
        <pc:chgData name="Proma Chakraborty" userId="6498d5ecf9bee84c" providerId="LiveId" clId="{66FC870F-A0F2-4B84-A13C-1C2B13E21C40}" dt="2026-04-28T15:36:43.159" v="77" actId="47"/>
        <pc:sldMkLst>
          <pc:docMk/>
          <pc:sldMk cId="204261830" sldId="303"/>
        </pc:sldMkLst>
      </pc:sldChg>
      <pc:sldChg chg="del">
        <pc:chgData name="Proma Chakraborty" userId="6498d5ecf9bee84c" providerId="LiveId" clId="{66FC870F-A0F2-4B84-A13C-1C2B13E21C40}" dt="2026-04-28T15:36:44.028" v="78" actId="47"/>
        <pc:sldMkLst>
          <pc:docMk/>
          <pc:sldMk cId="2098158411" sldId="304"/>
        </pc:sldMkLst>
      </pc:sldChg>
      <pc:sldChg chg="modSp add del mod">
        <pc:chgData name="Proma Chakraborty" userId="6498d5ecf9bee84c" providerId="LiveId" clId="{66FC870F-A0F2-4B84-A13C-1C2B13E21C40}" dt="2026-04-28T15:40:00.339" v="155" actId="47"/>
        <pc:sldMkLst>
          <pc:docMk/>
          <pc:sldMk cId="1219640923" sldId="409"/>
        </pc:sldMkLst>
        <pc:spChg chg="mod">
          <ac:chgData name="Proma Chakraborty" userId="6498d5ecf9bee84c" providerId="LiveId" clId="{66FC870F-A0F2-4B84-A13C-1C2B13E21C40}" dt="2026-04-28T15:32:21.923" v="37" actId="403"/>
          <ac:spMkLst>
            <pc:docMk/>
            <pc:sldMk cId="1219640923" sldId="409"/>
            <ac:spMk id="2" creationId="{883064C7-DBE4-4357-A34B-18BF81DCCEDF}"/>
          </ac:spMkLst>
        </pc:spChg>
        <pc:spChg chg="mod">
          <ac:chgData name="Proma Chakraborty" userId="6498d5ecf9bee84c" providerId="LiveId" clId="{66FC870F-A0F2-4B84-A13C-1C2B13E21C40}" dt="2026-04-28T15:32:21.923" v="37" actId="403"/>
          <ac:spMkLst>
            <pc:docMk/>
            <pc:sldMk cId="1219640923" sldId="409"/>
            <ac:spMk id="4" creationId="{E79EF7CD-942D-414B-B616-2C56574A8F26}"/>
          </ac:spMkLst>
        </pc:spChg>
        <pc:spChg chg="mod">
          <ac:chgData name="Proma Chakraborty" userId="6498d5ecf9bee84c" providerId="LiveId" clId="{66FC870F-A0F2-4B84-A13C-1C2B13E21C40}" dt="2026-04-28T15:37:11.717" v="115" actId="20577"/>
          <ac:spMkLst>
            <pc:docMk/>
            <pc:sldMk cId="1219640923" sldId="409"/>
            <ac:spMk id="8" creationId="{FFFCCC0D-AA61-47C2-9A83-EF4039E4A1B0}"/>
          </ac:spMkLst>
        </pc:spChg>
        <pc:spChg chg="mod">
          <ac:chgData name="Proma Chakraborty" userId="6498d5ecf9bee84c" providerId="LiveId" clId="{66FC870F-A0F2-4B84-A13C-1C2B13E21C40}" dt="2026-04-28T15:32:21.923" v="37" actId="403"/>
          <ac:spMkLst>
            <pc:docMk/>
            <pc:sldMk cId="1219640923" sldId="409"/>
            <ac:spMk id="11" creationId="{1448FFE1-76E1-4DD4-8A1C-E2D93885B3DF}"/>
          </ac:spMkLst>
        </pc:spChg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1483281270" sldId="410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1050898011" sldId="416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1668264988" sldId="437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3318822587" sldId="440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2086194853" sldId="441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1015772637" sldId="442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4026368747" sldId="443"/>
        </pc:sldMkLst>
      </pc:sldChg>
      <pc:sldChg chg="add">
        <pc:chgData name="Proma Chakraborty" userId="6498d5ecf9bee84c" providerId="LiveId" clId="{66FC870F-A0F2-4B84-A13C-1C2B13E21C40}" dt="2026-04-28T15:39:55.450" v="154"/>
        <pc:sldMkLst>
          <pc:docMk/>
          <pc:sldMk cId="3664756091" sldId="44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members of the panel and faculty. I am Niharika Rai, and today I present my minor project titled 'A Compact 50-Gene Immune Classifier Transfers Across Cohorts to Predict Checkpoint-Inhibitor Response and Survival'.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outline. We walk through introduction, objectives, methodology, comprehensive results across three validation dimensions, scope for future enhancement, and key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ICIs only work for 20-30% of patients. Existing tests like PD-L1 are imperfect. Thorsson defined 6 immune subtypes using massive TCGA multi-omics, but those patients were treatment-naïve. Our study compresses that into a compact 47-gene classifier and tests it on real ICI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study has one primary goal and four secondary objectives: compress subtypes into 47 genes, validate prognosis in TCGA, test transfer to ICI cohorts, benchmark against single-gene markers, and prove construct validity against pathologist annotations.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4-stage pipeline: filter genes, normalize, SMOTE+XGBoost training, then frozen transfer. The next slide shows the detailed specifications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details the pipeline specifications: gene selection, z-score normalization, SMOTE class balancing inside the pipeline to prevent leakage, and XGBoost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shows the confusion matrix. Our XGBoost model with SMOTE achieved 73.4% cross-validated accuracy in reproducing the six TCGA immune subtypes using only 47 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2 confirms that the predicted subtypes retain prognostic significance for overall survival with p = 3.8e-72 and Cox HR = 0.65.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 outlines our three datasets. TCGA for training, IMvigor210 bladder cohort as primary ICI validation, and Hugo2016 melanoma as secondary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 shows the primary pre-registered endpoint. Our frozen classifier achieves AUC = 0.66 in discriminating ICI responders from non-responders in IMvigor210.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 shows response distribution by subtype, and Figure 5 shows on-treatment survival benefit with Cox HR = 0.62, representing a 38% mortality reduction for immune-hot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benchmarks our panel against single-gene markers. We match IFNG and outperform PD-L1 and CD8A, while also providing survival prognostics.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6 and 7 show transfer to the Hugo2016 melanoma cohort. AUC = 0.60 despite only 28 patients and cross-cancer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8 demonstrates construct validity. Our hot_score is perfectly concordant with pathologist annotations: Desert &lt; Excluded &lt; Inflamed (p = 1.86e-15).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4 proves complementarity: hot_score significantly improves fit beyond TMB (LRT p=0.027) and remains robust across platinum-naïve and platinum-treated subgroups.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summarize our key findings: 73.4% accuracy, massive prognostic power, successful ICI transfer across cohorts, outperforms PD-L1 and CD8A, 38% mortality reduction, pathologist validation, and TMB complementarity.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key future directions: shrink to ~15 genes for RT-qPCR, expand to lung/kidney cohorts, add longitudinal PFS endpoints, and integrate single-cell profiling.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references include the Thorsson TCGA study, IMvigor210 and Hugo2016 trial datasets, XGBoost algorithm, and recent benchmark models like COMPASS and Polano et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I am happy to take any questions from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E6B7-27A7-CF6A-6EB9-C641FF0E5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BFD83-8337-61AC-8DE2-A295F4C0B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DF638-F268-5AED-3C50-DC1E48D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001C7-C0FE-CF27-5237-F67F7A31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B08E8-F03F-1CDE-0100-F39B3072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94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D9BA-5471-F4E1-9EDB-B628AECD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2006-40DE-45EC-C6E1-F773182C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8B6C0-D8BD-E8C6-C525-56BACF2A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AE142-10E4-1B30-37F5-1D1B199B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FF874-E139-6DCD-746E-551853C6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25C3-35D4-D4DA-901A-74D0A8BB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A8F2E-DBE0-BB7C-1A8A-BE0F342D0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32F29-9AC2-8C1D-4E2D-8752790A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F612-D710-AB67-7F58-915C7622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A8D73-21D4-FB4C-F7A4-77B994AF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76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0CB5-4BDC-123B-48DE-3226C975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539F-590D-688F-831B-C53D65BE7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9A03E-9567-7D98-9ADD-50306D60D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BD748-6889-7AB8-443A-ED5A2BC44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2FB54-184C-A3FD-B6DA-2AD61DB5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20D2B-C3FC-0BA5-6D89-47DF82A1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80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8FAD-E919-BC44-AC08-1FA6F3D5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3AEB-706F-DEF9-9204-512134BBC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130B1-00B3-2ACA-17C6-A74A1A02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BE1A0-5984-0055-DF58-6626517A2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6EAA68-A47F-1D67-3D8D-91873C3DD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0DD233-ABC3-86F3-03D9-51626374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5EFE5-F84D-7F76-19D2-98E3D34B8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BE0470-334F-A2C1-DB39-79F42B3E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95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51B6-3AB4-F28C-81EA-8E75D67B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84CAE-8A3B-ED09-B5EF-EA62FEA3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F5586-F991-3CD0-0A2C-2DFD3FF5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3224D-6B29-2449-D049-84051CC0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397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F7D94-A506-C225-1782-564C38C93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B3CE0-3821-D4BE-EA36-BDB0A2B8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2945B-2699-FE42-2667-E5CC24FB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8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A79D-13E1-7E14-81F6-4034E4A0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C8D1-4E91-041B-7B13-5DC448E01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7A082-EF26-B840-9470-F913DB043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4DBD5-3D22-8D44-2E50-F7CF035F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76442-28FA-EBAC-6FDC-AD5143C5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72D18-F9F7-3007-D8D9-AB0EA834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05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54C8-F71C-B944-09FF-E0B8492F5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853B1-8658-2937-AB83-23AF63BC8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A0E326-37C0-8A9C-92CA-0713A35B5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BAE45-6C40-62AB-ACAE-E8E6A19B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7EA56-F1FE-7C4D-2BE2-DC6C557A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AA95-9EB2-91A8-FB4E-5995AEF7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72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9069-27FB-EDD2-73C1-FB34E993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D0BF5-0116-3BF2-511C-7B515F945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94C0E-D193-2CD4-98C5-A823EBED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9E41C-C750-8E63-BF6E-6F9AC8F0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E858-3BF1-5143-127F-4F74F205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82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BAFFA-AA6D-E1BD-1C05-44D1784A2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C3297-EAB5-E48E-BE4B-0BF83F3CC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D2BB-E769-6DEE-6AB9-39E7FDCAB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E8486-AB79-5667-11EC-CF05892E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BE477-571A-D4C9-47AE-EDD59E17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120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ACDE12-1029-F2FA-F8AA-C7561A3E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A9A78-F5A3-521D-4F92-E6FBF8FE4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E6287-CAF9-331D-0AD5-0C303CE39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B56C3-2998-46B2-9FD0-7D784A0551E1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825F7-EFBD-86AD-98FD-45C428ADD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E58C-77C8-7B0C-743A-FDF562738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33944-8BBB-4F4E-92E5-A25F7C88FF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47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64C7-DBE4-4357-A34B-18BF81DCC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788" y="365125"/>
            <a:ext cx="9574306" cy="1433195"/>
          </a:xfrm>
        </p:spPr>
        <p:txBody>
          <a:bodyPr wrap="square">
            <a:noAutofit/>
          </a:bodyPr>
          <a:lstStyle/>
          <a:p>
            <a:pPr algn="ctr">
              <a:defRPr sz="2400" b="1">
                <a:latin typeface="Times New Roman"/>
              </a:defRPr>
            </a:pPr>
            <a:r>
              <a:rPr sz="2400" b="1">
                <a:latin typeface="Times New Roman"/>
              </a:rPr>
              <a:t>School of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600" b="1">
                <a:latin typeface="Times New Roman"/>
              </a:defRPr>
            </a:pPr>
            <a:r>
              <a:rPr sz="1600" b="1">
                <a:latin typeface="Times New Roman"/>
              </a:rPr>
              <a:t>Department of Life Sciences (Biotechnology / Microbiology / Genetics / Bioinformatics)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FCCC0D-AA61-47C2-9A83-EF4039E4A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3898174"/>
            <a:ext cx="11201400" cy="1532964"/>
          </a:xfrm>
        </p:spPr>
        <p:txBody>
          <a:bodyPr wrap="square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rPr sz="1800" b="1">
                <a:latin typeface="Times New Roman"/>
              </a:rPr>
              <a:t>Presented by:</a:t>
            </a:r>
          </a:p>
          <a:p>
            <a:pPr>
              <a:defRPr sz="1800" b="1">
                <a:latin typeface="Times New Roman"/>
              </a:defRPr>
            </a:pPr>
            <a:r>
              <a:rPr sz="1800" b="1">
                <a:latin typeface="Times New Roman"/>
              </a:rPr>
              <a:t>Niharika Rai (Reg. No: 220101001)</a:t>
            </a:r>
          </a:p>
          <a:p>
            <a:pPr>
              <a:defRPr sz="1600" b="0">
                <a:latin typeface="Times New Roman"/>
              </a:defRPr>
            </a:pPr>
            <a:r>
              <a:rPr sz="1600" b="0">
                <a:latin typeface="Times New Roman"/>
              </a:rPr>
              <a:t>Department of Life Sciences, Garden City University</a:t>
            </a:r>
          </a:p>
          <a:p>
            <a:pPr>
              <a:defRPr sz="1200" b="0">
                <a:latin typeface="Times New Roman"/>
              </a:defRPr>
            </a:pPr>
          </a:p>
          <a:p>
            <a:pPr>
              <a:defRPr sz="1800" b="1">
                <a:latin typeface="Times New Roman"/>
              </a:defRPr>
            </a:pPr>
            <a:r>
              <a:rPr sz="1800" b="1">
                <a:latin typeface="Times New Roman"/>
              </a:rPr>
              <a:t>GUIDE:</a:t>
            </a:r>
          </a:p>
          <a:p>
            <a:pPr>
              <a:defRPr sz="1600" b="0">
                <a:latin typeface="Times New Roman"/>
              </a:defRPr>
            </a:pPr>
            <a:r>
              <a:rPr sz="1600" b="0">
                <a:latin typeface="Times New Roman"/>
              </a:rPr>
              <a:t>Internal Guide / Department Faculty, Department of Life Sciences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448FFE1-76E1-4DD4-8A1C-E2D93885B3DF}"/>
              </a:ext>
            </a:extLst>
          </p:cNvPr>
          <p:cNvSpPr txBox="1">
            <a:spLocks/>
          </p:cNvSpPr>
          <p:nvPr/>
        </p:nvSpPr>
        <p:spPr>
          <a:xfrm>
            <a:off x="279763" y="2928511"/>
            <a:ext cx="11658600" cy="951157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latin typeface="Times New Roman"/>
              </a:defRPr>
            </a:pPr>
            <a:r>
              <a:rPr sz="2400" b="1">
                <a:latin typeface="Times New Roman"/>
              </a:rPr>
              <a:t>A Compact 50-Gene Immune Classifier Transfers Across Cohorts to Predict Checkpoint-Inhibitor Response and Survival</a:t>
            </a:r>
          </a:p>
          <a:p>
            <a:pPr algn="ctr"/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8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CONTENT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42658" y="1747250"/>
          <a:ext cx="4622074" cy="3987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9621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CONTENT OVERVIEW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1. INTRODUCTION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2. OBJECTIVES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3. METHODOLOGY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4. RESULT &amp; DISCUSSION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5. SCOPE OF ENHANCEMENT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621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1E3A8A"/>
                          </a:solidFill>
                          <a:latin typeface="Times New Roman"/>
                        </a:rPr>
                        <a:t>6. REFERENCES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89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CBF9-6BC9-1CF9-ED13-56DBA39C1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E19D-1709-0CF3-2348-CB930F7CE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Limited ICI Efficacy: </a:t>
            </a:r>
            <a:r>
              <a:rPr sz="2200">
                <a:solidFill>
                  <a:srgbClr val="1E293B"/>
                </a:solidFill>
                <a:latin typeface="Times New Roman"/>
              </a:rPr>
              <a:t>Immune Checkpoint Inhibitors (ICIs; anti-PD-1/PD-L1) have transformed oncology, yet only 20–30% of unselected patients derive durable clinical benefit.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Flawed Clinical Biomarkers: </a:t>
            </a:r>
            <a:r>
              <a:rPr sz="2200">
                <a:solidFill>
                  <a:srgbClr val="1E293B"/>
                </a:solidFill>
                <a:latin typeface="Times New Roman"/>
              </a:rPr>
              <a:t>Current predictors (PD-L1 IHC, Tumour Mutational Burden) suffer from spatial heterogeneity, technical variability, and low predictive specificity.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Thorsson 6 Immune Subtypes: </a:t>
            </a:r>
            <a:r>
              <a:rPr sz="2200">
                <a:solidFill>
                  <a:srgbClr val="1E293B"/>
                </a:solidFill>
                <a:latin typeface="Times New Roman"/>
              </a:rPr>
              <a:t>Thorsson et al. (2018) identified 6 pan-cancer immune subtypes (C1–C6) from multi-omic TCGA data across 33 cancer types.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Key Translational Gap: </a:t>
            </a:r>
            <a:r>
              <a:rPr sz="2200">
                <a:solidFill>
                  <a:srgbClr val="1E293B"/>
                </a:solidFill>
                <a:latin typeface="Times New Roman"/>
              </a:rPr>
              <a:t>TCGA tumours were treatment-naïve (no ICIs administered). Multi-omic panels and foundation AI models (e.g., COMPASS) are too costly for routine hospitals.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Proposed Innovation: </a:t>
            </a:r>
            <a:r>
              <a:rPr sz="2200">
                <a:solidFill>
                  <a:srgbClr val="1E293B"/>
                </a:solidFill>
                <a:latin typeface="Times New Roman"/>
              </a:rPr>
              <a:t>We compressed the 6-subtype taxonomy into a deployable 47-gene RNA-only XGBoost classifier and validated its transferability in real ICI cohorts.</a:t>
            </a:r>
          </a:p>
        </p:txBody>
      </p:sp>
    </p:spTree>
    <p:extLst>
      <p:ext uri="{BB962C8B-B14F-4D97-AF65-F5344CB8AC3E}">
        <p14:creationId xmlns:p14="http://schemas.microsoft.com/office/powerpoint/2010/main" val="331882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E8064-A652-A0EC-A44D-03676DDCC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4EF2-F9A7-001E-13B3-4D77C7E50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PRIMARY: </a:t>
            </a:r>
            <a:r>
              <a:rPr sz="2200">
                <a:solidFill>
                  <a:srgbClr val="1E293B"/>
                </a:solidFill>
                <a:latin typeface="Times New Roman"/>
              </a:rPr>
              <a:t>Compress the multi-omic immune taxonomy into a compact, deployable, transcriptome-only 47-gene classifier using SMOTE + XGBoost.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Goal 1 — Prognostic Validation: </a:t>
            </a:r>
            <a:r>
              <a:rPr sz="2200">
                <a:solidFill>
                  <a:srgbClr val="1E293B"/>
                </a:solidFill>
                <a:latin typeface="Times New Roman"/>
              </a:rPr>
              <a:t>Confirm OS prognostic stratification across 8,542 treatment-naïve TCGA tumours.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Goal 2 — Cross-Cohort Transfer: </a:t>
            </a:r>
            <a:r>
              <a:rPr sz="2200">
                <a:solidFill>
                  <a:srgbClr val="1E293B"/>
                </a:solidFill>
                <a:latin typeface="Times New Roman"/>
              </a:rPr>
              <a:t>Test the frozen model out-of-the-box on IMvigor210 (bladder, n=348) and Hugo2016 (melanoma, n=28).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Goal 3 — Benchmarking: </a:t>
            </a:r>
            <a:r>
              <a:rPr sz="2200">
                <a:solidFill>
                  <a:srgbClr val="1E293B"/>
                </a:solidFill>
                <a:latin typeface="Times New Roman"/>
              </a:rPr>
              <a:t>Evaluate whether the 50-gene score outperforms PD-L1/CD274, IFNG, and CD8A single-gene baselines.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Goal 4 — Construct &amp; Complementarity: </a:t>
            </a:r>
            <a:r>
              <a:rPr sz="2200">
                <a:solidFill>
                  <a:srgbClr val="1E293B"/>
                </a:solidFill>
                <a:latin typeface="Times New Roman"/>
              </a:rPr>
              <a:t>Validate hot_score against pathologist immune annotations and measure incremental value over TMB.</a:t>
            </a:r>
          </a:p>
        </p:txBody>
      </p:sp>
    </p:spTree>
    <p:extLst>
      <p:ext uri="{BB962C8B-B14F-4D97-AF65-F5344CB8AC3E}">
        <p14:creationId xmlns:p14="http://schemas.microsoft.com/office/powerpoint/2010/main" val="101577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42B5-02ED-4CE6-DB4E-3FA9E61C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D5142-05CB-BEEC-1D2B-6BE96A24D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Stage 1 — Data &amp; Filtering: </a:t>
            </a:r>
            <a:r>
              <a:rPr sz="2200">
                <a:solidFill>
                  <a:srgbClr val="1E293B"/>
                </a:solidFill>
                <a:latin typeface="Times New Roman"/>
              </a:rPr>
              <a:t>TCGA PanCanAtlas RNA-Seq (8,542 tumours, 33 cancer types) + 47 panel genes. IMvigor210 (atezolizumab, bladder, n=348) &amp; Hugo2016 (pembrolizumab, melanoma, n=28).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Stage 2 — Rank Normalization: </a:t>
            </a:r>
            <a:r>
              <a:rPr sz="2200">
                <a:solidFill>
                  <a:srgbClr val="1E293B"/>
                </a:solidFill>
                <a:latin typeface="Times New Roman"/>
              </a:rPr>
              <a:t>Per-gene z-scoring within each cohort ensuring platform-invariant rank normalization.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Stage 3 — Class Balance &amp; Training: </a:t>
            </a:r>
            <a:r>
              <a:rPr sz="2200">
                <a:solidFill>
                  <a:srgbClr val="1E293B"/>
                </a:solidFill>
                <a:latin typeface="Times New Roman"/>
              </a:rPr>
              <a:t>SMOTE oversampling (k_neighbors=3) inside imblearn pipeline to prevent CV leakage; XGBoost Classifier (500 estimators, max_depth=6, lr=0.05).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Stage 4 — Frozen Transfer &amp; Endpoints: </a:t>
            </a:r>
            <a:r>
              <a:rPr sz="2200">
                <a:solidFill>
                  <a:srgbClr val="1E293B"/>
                </a:solidFill>
                <a:latin typeface="Times New Roman"/>
              </a:rPr>
              <a:t>Model weights frozen after TCGA training; pre-registered primary endpoint ROC-AUC in IMvigor210, MWU test, Kaplan-Meier, Cox HR, and LRT for TMB complementarity.</a:t>
            </a:r>
          </a:p>
        </p:txBody>
      </p:sp>
    </p:spTree>
    <p:extLst>
      <p:ext uri="{BB962C8B-B14F-4D97-AF65-F5344CB8AC3E}">
        <p14:creationId xmlns:p14="http://schemas.microsoft.com/office/powerpoint/2010/main" val="208619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BF8C-16E4-5D29-2078-DE1401FE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METHODOLOGY — ML Pipeline Specifications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BC61-590D-EB2D-60BA-7AF1EDAD9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1800" b="1">
                <a:solidFill>
                  <a:srgbClr val="1E3A8A"/>
                </a:solidFill>
                <a:latin typeface="Times New Roman"/>
              </a:defRPr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Table 1: Methodology &amp; Machine Learning Pipeline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8200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200400"/>
                <a:gridCol w="3047695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Pipeline Component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Algorithm / Tool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Rationale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Gene Selection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TCGA Filtering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47/50 panel genes 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Transcriptome-only panel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Normalization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Within-Cohort Z-Score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Mean=0, Std=1 per cohort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Platform rank invariance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Class 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SMOTE Oversampling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k_neighbors=3 in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Prevents rare subtype bias &amp; leakage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Classifier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XGBoost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n_est=500, depth=6, lr=0.05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Non-linear gradient boosted trees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Primary 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Pre-Registered ROC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CR/PR vs SD/PD in IMvigor210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Avoids post-hoc reporting 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368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A1AE-24B2-80E5-B4E4-31C5A46D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SCOPE OF ENHANCEMENT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F667-A19F-1FB6-35F4-50E29E33A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Minimal Panel (~15 Genes): </a:t>
            </a:r>
            <a:r>
              <a:rPr sz="2200">
                <a:solidFill>
                  <a:srgbClr val="1E293B"/>
                </a:solidFill>
                <a:latin typeface="Times New Roman"/>
              </a:rPr>
              <a:t>SHAP / Recursive Feature Elimination to compress the panel for low-cost RT-qPCR or NanoString clinical diagnostic kits.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Multi-Cancer Expansion: </a:t>
            </a:r>
            <a:r>
              <a:rPr sz="2200">
                <a:solidFill>
                  <a:srgbClr val="1E293B"/>
                </a:solidFill>
                <a:latin typeface="Times New Roman"/>
              </a:rPr>
              <a:t>Extend validation to NSCLC, RCC, and anti-CTLA-4 combination regimens.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Longitudinal &amp; PFS: </a:t>
            </a:r>
            <a:r>
              <a:rPr sz="2200">
                <a:solidFill>
                  <a:srgbClr val="1E293B"/>
                </a:solidFill>
                <a:latin typeface="Times New Roman"/>
              </a:rPr>
              <a:t>Serial pre- and on-treatment RNA-seq to track dynamic immune score shifts and evaluate Progression-Free Survival endpoints.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E3A8A"/>
                </a:solidFill>
                <a:latin typeface="Times New Roman"/>
              </a:rPr>
              <a:t>• Single-Cell &amp; Spatial Profiling: </a:t>
            </a:r>
            <a:r>
              <a:rPr sz="2200">
                <a:solidFill>
                  <a:srgbClr val="1E293B"/>
                </a:solidFill>
                <a:latin typeface="Times New Roman"/>
              </a:rPr>
              <a:t>Integrate scRNA-seq and spatial transcriptomics to dissect cell-type specific expression drivers (CD8+ T-cells, M2 macrophages, Tregs).</a:t>
            </a:r>
          </a:p>
        </p:txBody>
      </p:sp>
    </p:spTree>
    <p:extLst>
      <p:ext uri="{BB962C8B-B14F-4D97-AF65-F5344CB8AC3E}">
        <p14:creationId xmlns:p14="http://schemas.microsoft.com/office/powerpoint/2010/main" val="366475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943" y="447040"/>
            <a:ext cx="10515600" cy="771344"/>
          </a:xfrm>
        </p:spPr>
        <p:txBody>
          <a:bodyPr>
            <a:normAutofit/>
          </a:bodyPr>
          <a:lstStyle/>
          <a:p>
            <a:pPr algn="ctr">
              <a:defRPr sz="3200" b="1">
                <a:latin typeface="Times New Roman"/>
              </a:defRPr>
            </a:pPr>
            <a:r>
              <a:rPr sz="3200" b="1">
                <a:latin typeface="Times New Roman"/>
              </a:rPr>
              <a:t>REFERENCES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41963A-1D33-0C66-CDA7-7DA5D4D0A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1. Thorsson, V., et al. (2018). "The Immune Landscape of Cancer." Immunity, 48(4), 812–830.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2. Mariathasan, S., et al. (2018). "TGFβ attenuates tumour response to PD-L1 blockade (IMvigor210)." Nature, 554, 544–548.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3. Hugo, W., et al. (2016). "Genomic and Transcriptomic Features of Response to Anti-PD-1 Therapy in Melanoma." Cell, 165(1), 35–44.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4. Chen, T., &amp; Guestrin, C. (2016). "XGBoost: A Scalable Tree Boosting System." ACM SIGKDD, 785–794.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5. Shen, W., et al. (2026). "Generalizable AI predicts immunotherapy outcomes (COMPASS)." Nature Medicine.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6. Polano, M., et al. (2019). "Pan-Cancer Approach to Predict ICI Responsiveness by ML." Cancers, 11(10), 1562.</a:t>
            </a:r>
          </a:p>
        </p:txBody>
      </p:sp>
    </p:spTree>
    <p:extLst>
      <p:ext uri="{BB962C8B-B14F-4D97-AF65-F5344CB8AC3E}">
        <p14:creationId xmlns:p14="http://schemas.microsoft.com/office/powerpoint/2010/main" val="166826498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TCGA Classifier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_confusion_tc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554480"/>
            <a:ext cx="53035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69767" y="5349240"/>
            <a:ext cx="5852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Figure 1: TCGA 5-Fold Cross-Validation Confusion Matrix</a:t>
            </a:r>
          </a:p>
          <a:p>
            <a:pPr algn="ctr"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200">
                <a:solidFill>
                  <a:srgbClr val="1E293B"/>
                </a:solidFill>
                <a:latin typeface="Times New Roman"/>
              </a:rPr>
              <a:t>73.4% CV accuracy across 6 immune subtypes (n = 8,542 tumours, 33 cancer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The 47-gene RNA panel captures 73.4% of multi-omic subtype variation — C2 (IFN-γ) and C1 (Wound Healing) show highest classification fidelity.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TCGA Prognostic 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ig_tcga_survival_sub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55448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78327" y="534924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Figure 2: Kaplan-Meier Overall Survival by Predicted Immune Subtype</a:t>
            </a:r>
          </a:p>
          <a:p>
            <a:pPr algn="ctr"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200">
                <a:solidFill>
                  <a:srgbClr val="1E293B"/>
                </a:solidFill>
                <a:latin typeface="Times New Roman"/>
              </a:rPr>
              <a:t>Log-rank p = 3.8 × 10⁻⁷²  |  Immune-Hot Cox HR = 0.65 (p &lt; 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Predicted subtypes retain massive prognostic significance — immune-hot tumours show 35% lower mortality risk (Cox HR = 0.65).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Cohort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Times New Roman"/>
              </a:defRPr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Table 2: Cohort Summary — Training &amp; External Validation Datasets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8200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914400"/>
                <a:gridCol w="2560320"/>
                <a:gridCol w="2956255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Cohort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Cancer Type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Treatment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TCGA PanCanAtlas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Pan-Cancer (33 types)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8,542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Treatment-naïve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Training / 5-Fold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IMvigor210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Metastatic Urothelial (Bladder)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Atezolizumab (anti-PD-L1)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Primary ICI Validation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Hugo et al. 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Metastatic Melanoma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Pembrolizumab (anti-PD-1)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Secondary ICI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E293B"/>
                </a:solidFill>
                <a:latin typeface="Times New Roman"/>
              </a:defRPr>
            </a:pPr>
            <a:r>
              <a:rPr sz="1800">
                <a:solidFill>
                  <a:srgbClr val="1E293B"/>
                </a:solidFill>
                <a:latin typeface="Times New Roman"/>
              </a:rPr>
              <a:t>The frozen TCGA-trained classifier is tested out-of-the-box on two independent, real-world ICI-treated clinical cohorts spanning distinct cancer types, treatment regimens, and sequencing platforms — a rigorous test of cross-cohort transferability.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IMvigor210 Primary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vigor210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554480"/>
            <a:ext cx="53035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69767" y="5349240"/>
            <a:ext cx="5852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Figure 3: IMvigor210 ICI Response ROC Curve (Primary Endpoint)</a:t>
            </a:r>
          </a:p>
          <a:p>
            <a:pPr algn="ctr"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200">
                <a:solidFill>
                  <a:srgbClr val="1E293B"/>
                </a:solidFill>
                <a:latin typeface="Times New Roman"/>
              </a:rPr>
              <a:t>AUC = 0.66 [95% CI: 0.58–0.73]  |  MWU p = 9.07 × 10⁻⁵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Pre-registered primary endpoint met — the frozen TCGA-derived classifier discriminates ICI responders (CR/PR) from non-responders (SD/PD) with AUC = 0.66 in an independent bladder cancer cohort.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IMvigor210 Response &amp; Survival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vigor210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554480"/>
            <a:ext cx="47548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047" y="4937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Figure 4: Response Rate by Immune Subtype</a:t>
            </a:r>
          </a:p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 sz="1100">
                <a:solidFill>
                  <a:srgbClr val="1E293B"/>
                </a:solidFill>
                <a:latin typeface="Times New Roman"/>
              </a:rPr>
              <a:t>Response: 24.8% hot vs 18.0% cold</a:t>
            </a:r>
          </a:p>
        </p:txBody>
      </p:sp>
      <p:pic>
        <p:nvPicPr>
          <p:cNvPr id="6" name="Picture 5" descr="IMvigor210_survi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7" y="1554480"/>
            <a:ext cx="47548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4937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Figure 5: On-Treatment Overall Survival</a:t>
            </a:r>
          </a:p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 sz="1100">
                <a:solidFill>
                  <a:srgbClr val="1E293B"/>
                </a:solidFill>
                <a:latin typeface="Times New Roman"/>
              </a:rPr>
              <a:t>Log-rank p = 0.021  |  Cox HR = 0.62 (38% mortality reduction)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Immune-hot patients show both higher objective response rates and significantly superior on-treatment survival (Cox HR = 0.62, 38% mortality reduction).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Biomarker Benchmark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Times New Roman"/>
              </a:defRPr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Table 3: Biomarker Benchmark Performance Summary (IMvigor210, n = 348)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8200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31520"/>
                <a:gridCol w="2011680"/>
                <a:gridCol w="1828800"/>
                <a:gridCol w="213329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Biomarker / 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Endpoint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ROC-AUC [95% CI]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MWU p-value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FDR p-value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50-Gene Panel (Primary)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ICI Response (CR/PR)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0.66 [0.58–0.73]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9.07e-5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2.72e-4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IFNG Expression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ICI Response (CR/PR)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0.66 [0.58–0.74]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1.10e-4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2.72e-4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PD-L1 / CD274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ICI Response (CR/PR)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0.57 [0.49–0.65]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CD8A Expression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ICI Response (CR/PR)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0.58 [0.50–0.66]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0.048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0.072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Continuous hot_score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Overall Survival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348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Cox HR = 0.62 [0.50–0.75]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 = 0.021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 = 0.042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The 50-gene panel matches IFNG (AUC = 0.66) and significantly outperforms PD-L1 (0.57) and CD8A (0.58) — while also capturing survival prognostics that single genes cannot.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Hugo2016 Melanoma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Hugo201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554480"/>
            <a:ext cx="475488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047" y="4937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Figure 6: Hugo2016 Melanoma ROC Curve</a:t>
            </a:r>
          </a:p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 sz="1100">
                <a:solidFill>
                  <a:srgbClr val="1E293B"/>
                </a:solidFill>
                <a:latin typeface="Times New Roman"/>
              </a:rPr>
              <a:t>AUC = 0.60 [0.38–0.83]  (n = 28, pembrolizumab)</a:t>
            </a:r>
          </a:p>
        </p:txBody>
      </p:sp>
      <p:pic>
        <p:nvPicPr>
          <p:cNvPr id="6" name="Picture 5" descr="Hugo2016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7" y="1554480"/>
            <a:ext cx="47548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4937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Figure 7: Hugo2016 Response Distribution</a:t>
            </a:r>
          </a:p>
          <a:p>
            <a:pPr algn="ctr"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 sz="1100">
                <a:solidFill>
                  <a:srgbClr val="1E293B"/>
                </a:solidFill>
                <a:latin typeface="Times New Roman"/>
              </a:rPr>
              <a:t>Response: 57.1% hot vs 60.0% cold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Despite the tiny cohort (n=28) and cross-cancer transfer (bladder→melanoma), the frozen classifier shows directionally consistent discrimination (AUC = 0.60).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Pathologist Construct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vigor210_construc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087" y="1554480"/>
            <a:ext cx="53035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69767" y="5349240"/>
            <a:ext cx="5852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rPr sz="1400" b="1">
                <a:solidFill>
                  <a:srgbClr val="1E3A8A"/>
                </a:solidFill>
                <a:latin typeface="Times New Roman"/>
              </a:rPr>
              <a:t>Figure 8: hot_score vs. Pathologist Immune Phenotype Annotations</a:t>
            </a:r>
          </a:p>
          <a:p>
            <a:pPr algn="ctr">
              <a:defRPr sz="1200">
                <a:solidFill>
                  <a:srgbClr val="1E293B"/>
                </a:solidFill>
                <a:latin typeface="Times New Roman"/>
              </a:defRPr>
            </a:pPr>
            <a:r>
              <a:rPr sz="1200">
                <a:solidFill>
                  <a:srgbClr val="1E293B"/>
                </a:solidFill>
                <a:latin typeface="Times New Roman"/>
              </a:rPr>
              <a:t>Desert → Excluded → Inflamed  |  Kruskal-Wallis p = 1.86 × 10⁻¹⁵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hot_score shows perfect monotonic concordance with independent human-pathologist immune annotations — proving that the computational score captures real biological immune infiltration gradients.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latin typeface="Times New Roman"/>
              </a:defRPr>
            </a:pPr>
            <a:r>
              <a:rPr sz="2800" b="1">
                <a:latin typeface="Times New Roman"/>
              </a:rPr>
              <a:t>RESULT &amp; DISCUSSION — TMB Complementarity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8A"/>
                </a:solidFill>
                <a:latin typeface="Times New Roman"/>
              </a:defRPr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Table 4: Biomarker Complementarity &amp; Subgroup Robustness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8200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097280"/>
                <a:gridCol w="2377440"/>
                <a:gridCol w="1097280"/>
                <a:gridCol w="222473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Analysis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Base Model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Base AUC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Combined (+ hot_score)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ΔAUC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LRT p-value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TMB Complementarity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TMB Alone (n=234)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TMB + hot_score (0.738)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+0.010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0.027 (Significant)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Neoantigen Burden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Neoantigen (n=216)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0.767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Neoantigen + hot_score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-0.014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0.053 (Non-sig)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Platinum-Naïve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hot_score (n=65)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AUC = 0.658 [0.499–0.813]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Robust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Platinum-Treated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hot_score (n=233)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AUC = 0.652 [0.560–0.735]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 sz="1200">
                          <a:solidFill>
                            <a:srgbClr val="1E293B"/>
                          </a:solidFill>
                          <a:latin typeface="Times New Roman"/>
                        </a:rPr>
                        <a:t>Robust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Key Finding: </a:t>
            </a:r>
            <a:r>
              <a:rPr sz="1600">
                <a:solidFill>
                  <a:srgbClr val="1E293B"/>
                </a:solidFill>
                <a:latin typeface="Times New Roman"/>
              </a:rPr>
              <a:t>hot_score significantly improves model fit beyond TMB alone (LRT p = 0.027), capturing non-redundant immune biology. Performance is robust across treatment-history subgroups.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latin typeface="Times New Roman"/>
              </a:defRPr>
            </a:pPr>
            <a:r>
              <a:rPr sz="3000" b="1">
                <a:latin typeface="Times New Roman"/>
              </a:rPr>
              <a:t>KEY FINDINGS —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73.4% CV Accuracy: </a:t>
            </a:r>
            <a:r>
              <a:rPr sz="2000">
                <a:solidFill>
                  <a:srgbClr val="1E293B"/>
                </a:solidFill>
                <a:latin typeface="Times New Roman"/>
              </a:rPr>
              <a:t>The 47-gene RNA panel reproduces 6 multi-omic subtypes using transcriptome data alone.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Massive Prognostic Power: </a:t>
            </a:r>
            <a:r>
              <a:rPr sz="2000">
                <a:solidFill>
                  <a:srgbClr val="1E293B"/>
                </a:solidFill>
                <a:latin typeface="Times New Roman"/>
              </a:rPr>
              <a:t>TCGA survival stratification with log-rank p = 3.8 × 10⁻⁷² and Cox HR = 0.65.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Successful ICI Transfer: </a:t>
            </a:r>
            <a:r>
              <a:rPr sz="2000">
                <a:solidFill>
                  <a:srgbClr val="1E293B"/>
                </a:solidFill>
                <a:latin typeface="Times New Roman"/>
              </a:rPr>
              <a:t>Frozen model achieves AUC = 0.66 in IMvigor210 (bladder) and AUC = 0.60 in Hugo2016 (melanoma).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Outperforms PD-L1 &amp; CD8A: </a:t>
            </a:r>
            <a:r>
              <a:rPr sz="2000">
                <a:solidFill>
                  <a:srgbClr val="1E293B"/>
                </a:solidFill>
                <a:latin typeface="Times New Roman"/>
              </a:rPr>
              <a:t>Matches IFNG (0.66) while significantly outperforming PD-L1 (0.57) and CD8A (0.58).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38% Mortality Reduction: </a:t>
            </a:r>
            <a:r>
              <a:rPr sz="2000">
                <a:solidFill>
                  <a:srgbClr val="1E293B"/>
                </a:solidFill>
                <a:latin typeface="Times New Roman"/>
              </a:rPr>
              <a:t>Immune-hot patients show Cox HR = 0.62 for on-treatment overall survival.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Validated by Pathologists: </a:t>
            </a:r>
            <a:r>
              <a:rPr sz="2000">
                <a:solidFill>
                  <a:srgbClr val="1E293B"/>
                </a:solidFill>
                <a:latin typeface="Times New Roman"/>
              </a:rPr>
              <a:t>Perfect monotonic concordance with Desert → Excluded → Inflamed annotations (p = 1.86 × 10⁻¹⁵).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E3A8A"/>
                </a:solidFill>
                <a:latin typeface="Times New Roman"/>
              </a:rPr>
              <a:t>• Complements TMB: </a:t>
            </a:r>
            <a:r>
              <a:rPr sz="2000">
                <a:solidFill>
                  <a:srgbClr val="1E293B"/>
                </a:solidFill>
                <a:latin typeface="Times New Roman"/>
              </a:rPr>
              <a:t>Captures non-redundant immune biology beyond Tumour Mutational Burden (LRT p = 0.027).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rPr sz="3600" b="1">
                <a:latin typeface="Times New Roman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1600" b="0">
                <a:solidFill>
                  <a:srgbClr val="1E293B"/>
                </a:solidFill>
                <a:latin typeface="Times New Roman"/>
              </a:defRPr>
            </a:pPr>
          </a:p>
          <a:p>
            <a:pPr algn="ctr">
              <a:defRPr sz="2600" b="1">
                <a:solidFill>
                  <a:srgbClr val="1E3A8A"/>
                </a:solidFill>
                <a:latin typeface="Times New Roman"/>
              </a:defRPr>
            </a:pPr>
            <a:r>
              <a:rPr sz="2600" b="1">
                <a:solidFill>
                  <a:srgbClr val="1E3A8A"/>
                </a:solidFill>
                <a:latin typeface="Times New Roman"/>
              </a:rPr>
              <a:t>Thank you for your time and attention.</a:t>
            </a:r>
          </a:p>
          <a:p>
            <a:pPr algn="ctr">
              <a:defRPr sz="1600" b="0">
                <a:solidFill>
                  <a:srgbClr val="1E293B"/>
                </a:solidFill>
                <a:latin typeface="Times New Roman"/>
              </a:defRPr>
            </a:pPr>
          </a:p>
          <a:p>
            <a:pPr algn="ctr">
              <a:defRPr sz="2200" b="0">
                <a:solidFill>
                  <a:srgbClr val="1E293B"/>
                </a:solidFill>
                <a:latin typeface="Times New Roman"/>
              </a:defRPr>
            </a:pPr>
            <a:r>
              <a:rPr sz="2200" b="0">
                <a:solidFill>
                  <a:srgbClr val="1E293B"/>
                </a:solidFill>
                <a:latin typeface="Times New Roman"/>
              </a:rPr>
              <a:t>Presented by: Niharika Rai</a:t>
            </a:r>
          </a:p>
          <a:p>
            <a:pPr algn="ctr">
              <a:defRPr sz="2000" b="0">
                <a:solidFill>
                  <a:srgbClr val="1E293B"/>
                </a:solidFill>
                <a:latin typeface="Times New Roman"/>
              </a:defRPr>
            </a:pPr>
            <a:r>
              <a:rPr sz="2000" b="0">
                <a:solidFill>
                  <a:srgbClr val="1E293B"/>
                </a:solidFill>
                <a:latin typeface="Times New Roman"/>
              </a:rPr>
              <a:t>Registration No: 220101001</a:t>
            </a:r>
          </a:p>
          <a:p>
            <a:pPr algn="ctr">
              <a:defRPr sz="2000" b="0">
                <a:solidFill>
                  <a:srgbClr val="1E293B"/>
                </a:solidFill>
                <a:latin typeface="Times New Roman"/>
              </a:defRPr>
            </a:pPr>
            <a:r>
              <a:rPr sz="2000" b="0">
                <a:solidFill>
                  <a:srgbClr val="1E293B"/>
                </a:solidFill>
                <a:latin typeface="Times New Roman"/>
              </a:rPr>
              <a:t>Department of Life Sciences, Garden City University</a:t>
            </a:r>
          </a:p>
          <a:p>
            <a:pPr algn="ctr">
              <a:defRPr sz="1600" b="0">
                <a:solidFill>
                  <a:srgbClr val="1E293B"/>
                </a:solidFill>
                <a:latin typeface="Times New Roman"/>
              </a:defRPr>
            </a:pPr>
          </a:p>
          <a:p>
            <a:pPr algn="ctr"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rPr sz="2400" b="1">
                <a:solidFill>
                  <a:srgbClr val="1E3A8A"/>
                </a:solidFill>
                <a:latin typeface="Times New Roman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1_Office Theme</vt:lpstr>
      <vt:lpstr>School of Sciences  Department of Life Sciences (Biotechnology/Microbiology/Genetics/Bioinformatics)</vt:lpstr>
      <vt:lpstr>CONTENT </vt:lpstr>
      <vt:lpstr>INTRODUCTION</vt:lpstr>
      <vt:lpstr>OBJECTIVES</vt:lpstr>
      <vt:lpstr>METHODOLOGY</vt:lpstr>
      <vt:lpstr>RESULT &amp; DISCUSSION </vt:lpstr>
      <vt:lpstr>SCOPE OF ENHANCEMENT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Proma</dc:creator>
  <cp:lastModifiedBy>Proma Chakraborty</cp:lastModifiedBy>
  <cp:revision>3</cp:revision>
  <dcterms:created xsi:type="dcterms:W3CDTF">2024-10-14T04:10:26Z</dcterms:created>
  <dcterms:modified xsi:type="dcterms:W3CDTF">2026-04-28T15:40:30Z</dcterms:modified>
</cp:coreProperties>
</file>